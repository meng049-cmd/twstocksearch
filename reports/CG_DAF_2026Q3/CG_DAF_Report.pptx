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偏移不良率</c:v>
                </c:pt>
              </c:strCache>
            </c:strRef>
          </c:tx>
          <c:spPr>
            <a:ln w="25400">
              <a:solidFill>
                <a:srgbClr val="137E91"/>
              </a:solidFill>
            </a:ln>
          </c:spPr>
          <c:marker>
            <c:symbol val="none"/>
          </c:marker>
          <c:cat>
            <c:strRef>
              <c:f>Sheet1!$A$2:$A$66</c:f>
              <c:strCache>
                <c:ptCount val="65"/>
                <c:pt idx="0">
                  <c:v>07/01</c:v>
                </c:pt>
                <c:pt idx="1">
                  <c:v>07/02</c:v>
                </c:pt>
                <c:pt idx="2">
                  <c:v>07/03</c:v>
                </c:pt>
                <c:pt idx="3">
                  <c:v>07/04</c:v>
                </c:pt>
                <c:pt idx="4">
                  <c:v>07/06</c:v>
                </c:pt>
                <c:pt idx="5">
                  <c:v>07/07</c:v>
                </c:pt>
                <c:pt idx="6">
                  <c:v>07/08</c:v>
                </c:pt>
                <c:pt idx="7">
                  <c:v>07/09</c:v>
                </c:pt>
                <c:pt idx="8">
                  <c:v>07/10</c:v>
                </c:pt>
                <c:pt idx="9">
                  <c:v>07/13</c:v>
                </c:pt>
                <c:pt idx="10">
                  <c:v>07/14</c:v>
                </c:pt>
                <c:pt idx="11">
                  <c:v>07/15</c:v>
                </c:pt>
                <c:pt idx="12">
                  <c:v>07/16</c:v>
                </c:pt>
                <c:pt idx="13">
                  <c:v>07/17</c:v>
                </c:pt>
                <c:pt idx="14">
                  <c:v>07/18</c:v>
                </c:pt>
                <c:pt idx="15">
                  <c:v>07/20</c:v>
                </c:pt>
                <c:pt idx="16">
                  <c:v>07/21</c:v>
                </c:pt>
                <c:pt idx="17">
                  <c:v>07/22</c:v>
                </c:pt>
                <c:pt idx="18">
                  <c:v>07/23</c:v>
                </c:pt>
                <c:pt idx="19">
                  <c:v>07/24</c:v>
                </c:pt>
                <c:pt idx="20">
                  <c:v>07/27</c:v>
                </c:pt>
                <c:pt idx="21">
                  <c:v>07/28</c:v>
                </c:pt>
                <c:pt idx="22">
                  <c:v>07/29</c:v>
                </c:pt>
                <c:pt idx="23">
                  <c:v>07/30</c:v>
                </c:pt>
                <c:pt idx="24">
                  <c:v>07/31</c:v>
                </c:pt>
                <c:pt idx="25">
                  <c:v>08/03</c:v>
                </c:pt>
                <c:pt idx="26">
                  <c:v>08/04</c:v>
                </c:pt>
                <c:pt idx="27">
                  <c:v>08/05</c:v>
                </c:pt>
                <c:pt idx="28">
                  <c:v>08/06</c:v>
                </c:pt>
                <c:pt idx="29">
                  <c:v>08/07</c:v>
                </c:pt>
                <c:pt idx="30">
                  <c:v>08/10</c:v>
                </c:pt>
                <c:pt idx="31">
                  <c:v>08/11</c:v>
                </c:pt>
                <c:pt idx="32">
                  <c:v>08/12</c:v>
                </c:pt>
                <c:pt idx="33">
                  <c:v>08/13</c:v>
                </c:pt>
                <c:pt idx="34">
                  <c:v>08/14</c:v>
                </c:pt>
                <c:pt idx="35">
                  <c:v>08/17</c:v>
                </c:pt>
                <c:pt idx="36">
                  <c:v>08/18</c:v>
                </c:pt>
                <c:pt idx="37">
                  <c:v>08/19</c:v>
                </c:pt>
                <c:pt idx="38">
                  <c:v>08/20</c:v>
                </c:pt>
                <c:pt idx="39">
                  <c:v>08/24</c:v>
                </c:pt>
                <c:pt idx="40">
                  <c:v>08/25</c:v>
                </c:pt>
                <c:pt idx="41">
                  <c:v>08/26</c:v>
                </c:pt>
                <c:pt idx="42">
                  <c:v>08/27</c:v>
                </c:pt>
                <c:pt idx="43">
                  <c:v>08/28</c:v>
                </c:pt>
                <c:pt idx="44">
                  <c:v>08/31</c:v>
                </c:pt>
                <c:pt idx="45">
                  <c:v>09/01</c:v>
                </c:pt>
                <c:pt idx="46">
                  <c:v>09/02</c:v>
                </c:pt>
                <c:pt idx="47">
                  <c:v>09/03</c:v>
                </c:pt>
                <c:pt idx="48">
                  <c:v>09/04</c:v>
                </c:pt>
                <c:pt idx="49">
                  <c:v>09/07</c:v>
                </c:pt>
                <c:pt idx="50">
                  <c:v>09/08</c:v>
                </c:pt>
                <c:pt idx="51">
                  <c:v>09/09</c:v>
                </c:pt>
                <c:pt idx="52">
                  <c:v>09/10</c:v>
                </c:pt>
                <c:pt idx="53">
                  <c:v>09/11</c:v>
                </c:pt>
                <c:pt idx="54">
                  <c:v>09/14</c:v>
                </c:pt>
                <c:pt idx="55">
                  <c:v>09/15</c:v>
                </c:pt>
                <c:pt idx="56">
                  <c:v>09/16</c:v>
                </c:pt>
                <c:pt idx="57">
                  <c:v>09/17</c:v>
                </c:pt>
                <c:pt idx="58">
                  <c:v>09/18</c:v>
                </c:pt>
                <c:pt idx="59">
                  <c:v>09/21</c:v>
                </c:pt>
                <c:pt idx="60">
                  <c:v>09/22</c:v>
                </c:pt>
                <c:pt idx="61">
                  <c:v>09/23</c:v>
                </c:pt>
                <c:pt idx="62">
                  <c:v>09/24</c:v>
                </c:pt>
                <c:pt idx="63">
                  <c:v>09/29</c:v>
                </c:pt>
                <c:pt idx="64">
                  <c:v>09/30</c:v>
                </c:pt>
              </c:strCache>
            </c:strRef>
          </c:cat>
          <c:val>
            <c:numRef>
              <c:f>Sheet1!$B$2:$B$66</c:f>
              <c:numCache>
                <c:formatCode>General</c:formatCode>
                <c:ptCount val="65"/>
                <c:pt idx="0">
                  <c:v>0.00029390154298310065</c:v>
                </c:pt>
                <c:pt idx="1">
                  <c:v>0.000624512099921936</c:v>
                </c:pt>
                <c:pt idx="2">
                  <c:v>0.001709986320109439</c:v>
                </c:pt>
                <c:pt idx="3">
                  <c:v>0.0</c:v>
                </c:pt>
                <c:pt idx="4">
                  <c:v>0.0</c:v>
                </c:pt>
                <c:pt idx="5">
                  <c:v>0.0</c:v>
                </c:pt>
                <c:pt idx="6">
                  <c:v>0.00037383177570093456</c:v>
                </c:pt>
                <c:pt idx="7">
                  <c:v>0.001321003963011889</c:v>
                </c:pt>
                <c:pt idx="8">
                  <c:v>0.0</c:v>
                </c:pt>
                <c:pt idx="9">
                  <c:v>0.0</c:v>
                </c:pt>
                <c:pt idx="10">
                  <c:v>0.0</c:v>
                </c:pt>
                <c:pt idx="11">
                  <c:v>0.0</c:v>
                </c:pt>
                <c:pt idx="12">
                  <c:v>0.00023261223540358222</c:v>
                </c:pt>
                <c:pt idx="13">
                  <c:v>0.0003177124702144559</c:v>
                </c:pt>
                <c:pt idx="14">
                  <c:v>0.00035398230088495576</c:v>
                </c:pt>
                <c:pt idx="15">
                  <c:v>0.0008887572211524219</c:v>
                </c:pt>
                <c:pt idx="16">
                  <c:v>0.0001366867140513942</c:v>
                </c:pt>
                <c:pt idx="17">
                  <c:v>0.0012213740458015267</c:v>
                </c:pt>
                <c:pt idx="18">
                  <c:v>0.0022078804347826085</c:v>
                </c:pt>
                <c:pt idx="19">
                  <c:v>0.0014312001635657329</c:v>
                </c:pt>
                <c:pt idx="20">
                  <c:v>0.0004028197381671702</c:v>
                </c:pt>
                <c:pt idx="21">
                  <c:v>0.00027909572983533354</c:v>
                </c:pt>
                <c:pt idx="22">
                  <c:v>0.0003723701359150996</c:v>
                </c:pt>
                <c:pt idx="23">
                  <c:v>0.00015873015873015873</c:v>
                </c:pt>
                <c:pt idx="24">
                  <c:v>0.0004873294346978557</c:v>
                </c:pt>
                <c:pt idx="25">
                  <c:v>0.0011405109489051094</c:v>
                </c:pt>
                <c:pt idx="26">
                  <c:v>0.0016070711128967456</c:v>
                </c:pt>
                <c:pt idx="27">
                  <c:v>0.00013180440226703572</c:v>
                </c:pt>
                <c:pt idx="28">
                  <c:v>0.00016891891891891893</c:v>
                </c:pt>
                <c:pt idx="29">
                  <c:v>0.00022732439190725165</c:v>
                </c:pt>
                <c:pt idx="30">
                  <c:v>0.0003700277520814061</c:v>
                </c:pt>
                <c:pt idx="31">
                  <c:v>0.000798562587342783</c:v>
                </c:pt>
                <c:pt idx="32">
                  <c:v>0.002343880796919471</c:v>
                </c:pt>
                <c:pt idx="33">
                  <c:v>0.016652433817250213</c:v>
                </c:pt>
                <c:pt idx="34">
                  <c:v>0.0006985679357317499</c:v>
                </c:pt>
                <c:pt idx="35">
                  <c:v>0.001358080579447714</c:v>
                </c:pt>
                <c:pt idx="36">
                  <c:v>0.001813386086383119</c:v>
                </c:pt>
                <c:pt idx="37">
                  <c:v>0.00021226915729144556</c:v>
                </c:pt>
                <c:pt idx="38">
                  <c:v>0.0002788622420524261</c:v>
                </c:pt>
                <c:pt idx="39">
                  <c:v>0.0001550387596899225</c:v>
                </c:pt>
                <c:pt idx="40">
                  <c:v>0.00042444821731748726</c:v>
                </c:pt>
                <c:pt idx="41">
                  <c:v>0.0013259668508287293</c:v>
                </c:pt>
                <c:pt idx="42">
                  <c:v>0.001362663032898579</c:v>
                </c:pt>
                <c:pt idx="43">
                  <c:v>0.0052093382211074665</c:v>
                </c:pt>
                <c:pt idx="44">
                  <c:v>0.006881243063263041</c:v>
                </c:pt>
                <c:pt idx="45">
                  <c:v>0.010287443267776097</c:v>
                </c:pt>
                <c:pt idx="46">
                  <c:v>0.006229508196721312</c:v>
                </c:pt>
                <c:pt idx="47">
                  <c:v>0.0029773719730051607</c:v>
                </c:pt>
                <c:pt idx="48">
                  <c:v>0.027877507919746566</c:v>
                </c:pt>
                <c:pt idx="49">
                  <c:v>0.010814542107685227</c:v>
                </c:pt>
                <c:pt idx="50">
                  <c:v>0.008655804480651732</c:v>
                </c:pt>
                <c:pt idx="51">
                  <c:v>0.008788064582055999</c:v>
                </c:pt>
                <c:pt idx="52">
                  <c:v>0.004956071187204325</c:v>
                </c:pt>
                <c:pt idx="53">
                  <c:v>0.0010460251046025104</c:v>
                </c:pt>
                <c:pt idx="54">
                  <c:v>0.00919732441471572</c:v>
                </c:pt>
                <c:pt idx="55">
                  <c:v>0.0029985007496251873</c:v>
                </c:pt>
                <c:pt idx="56">
                  <c:v>0.006381744343453877</c:v>
                </c:pt>
                <c:pt idx="57">
                  <c:v>0.0034036759700476512</c:v>
                </c:pt>
                <c:pt idx="58">
                  <c:v>0.00640527950310559</c:v>
                </c:pt>
                <c:pt idx="59">
                  <c:v>0.008515250038705681</c:v>
                </c:pt>
                <c:pt idx="60">
                  <c:v>0.00896</c:v>
                </c:pt>
                <c:pt idx="61">
                  <c:v>0.005509641873278237</c:v>
                </c:pt>
                <c:pt idx="62">
                  <c:v>0.0024200518582541053</c:v>
                </c:pt>
                <c:pt idx="63">
                  <c:v>0.0023449157962055</c:v>
                </c:pt>
                <c:pt idx="64">
                  <c:v>0.0018001800180018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0.03"/>
          <c:min val="0.0"/>
        </c:scaling>
        <c:delete val="0"/>
        <c:axPos val="l"/>
        <c:majorGridlines/>
        <c:numFmt formatCode="0.0%" sourceLinked="0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2118791784"/>
        <c:crosses val="autoZero"/>
        <c:majorUnit val="0.01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依使用者要求採各自先後時間順序推測比對。兩邊從第一筆各自投入起算累計量，按區間重疊分配CG投入至DAF日期。同CG日保留原始列次序。未校正期初庫存、製程時間差及其他用途。不能將不良歸屬至推測供應商。詳見附檔順序推測比對及FIFO配對明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37E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56032"/>
            <a:ext cx="114300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800" b="1">
                <a:solidFill>
                  <a:srgbClr val="18324E"/>
                </a:solidFill>
                <a:latin typeface="Noto Sans CJK TC"/>
              </a:defRPr>
            </a:pPr>
            <a:r>
              <a:t>CG 偏移品質與 DAF 投入比對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795528"/>
            <a:ext cx="1097280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53677D"/>
                </a:solidFill>
                <a:latin typeface="Noto Sans CJK TC"/>
              </a:defRPr>
            </a:pPr>
            <a:r>
              <a:t>目檢：2026/07–09  ｜  CG 過帳：2026/08–10  ｜  依各自時間先後與投入數推測配對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3444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" y="1307592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Noto Sans CJK TC"/>
              </a:defRPr>
            </a:pPr>
            <a:r>
              <a:t>7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61872"/>
            <a:ext cx="23774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137E91"/>
                </a:solidFill>
                <a:latin typeface="Noto Sans CJK TC"/>
              </a:defRPr>
            </a:pPr>
            <a:r>
              <a:t>0.057%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" y="1764792"/>
            <a:ext cx="347472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目檢 120,224  ｜  偏移不良 69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3672" y="123444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79976" y="1307592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Noto Sans CJK TC"/>
              </a:defRPr>
            </a:pPr>
            <a:r>
              <a:t>8 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261872"/>
            <a:ext cx="23774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137E91"/>
                </a:solidFill>
                <a:latin typeface="Noto Sans CJK TC"/>
              </a:defRPr>
            </a:pPr>
            <a:r>
              <a:t>0.202%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9976" y="1764792"/>
            <a:ext cx="347472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目檢 107,549  ｜  偏移不良 217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4" y="1234440"/>
            <a:ext cx="370332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307592"/>
            <a:ext cx="914400" cy="25603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18324E"/>
                </a:solidFill>
                <a:latin typeface="Noto Sans CJK TC"/>
              </a:defRPr>
            </a:pPr>
            <a:r>
              <a:t>9 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261872"/>
            <a:ext cx="2377440" cy="42062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C44E40"/>
                </a:solidFill>
                <a:latin typeface="Noto Sans CJK TC"/>
              </a:defRPr>
            </a:pPr>
            <a:r>
              <a:t>0.683%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764792"/>
            <a:ext cx="3474720" cy="23774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目檢 96,160  ｜  偏移不良 657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5760720" cy="33467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37744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18324E"/>
                </a:solidFill>
                <a:latin typeface="Noto Sans CJK TC"/>
              </a:defRPr>
            </a:pPr>
            <a:r>
              <a:t>CG 偏移不良率｜每日折線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475488" y="2761488"/>
          <a:ext cx="5522976" cy="26974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58368" y="2761488"/>
            <a:ext cx="4937760" cy="2743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1">
                <a:solidFill>
                  <a:srgbClr val="C44E40"/>
                </a:solidFill>
                <a:latin typeface="Noto Sans CJK TC"/>
              </a:defRPr>
            </a:pPr>
            <a:r>
              <a:t>峰值 9/4：132 ÷ 4,735 = 2.788%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779008"/>
            <a:ext cx="11457432" cy="493776"/>
          </a:xfrm>
          <a:prstGeom prst="rect">
            <a:avLst/>
          </a:prstGeom>
          <a:solidFill>
            <a:srgbClr val="1832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2064" y="5833872"/>
            <a:ext cx="1110996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Noto Sans CJK TC"/>
              </a:defRPr>
            </a:pPr>
            <a:r>
              <a:t>重點：9月不良率為7月的 11.9 倍；優先追查 9/4（2.788%）與 8/13（1.665%）批次。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6355080"/>
            <a:ext cx="11430000" cy="39319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900" b="0">
                <a:solidFill>
                  <a:srgbClr val="53677D"/>
                </a:solidFill>
                <a:latin typeface="Noto Sans CJK TC"/>
              </a:defRPr>
            </a:pPr>
            <a:r>
              <a:t>口徑：不良率＝偏移不良數÷DAF目檢投入；同日重複資料加總。配對採各自日期排序＋累計數量FIFO。</a:t>
            </a:r>
          </a:p>
          <a:p>
            <a:pPr>
              <a:defRPr sz="900" b="0">
                <a:solidFill>
                  <a:srgbClr val="53677D"/>
                </a:solidFill>
                <a:latin typeface="Noto Sans CJK TC"/>
              </a:defRPr>
            </a:pPr>
            <a:r>
              <a:t>假設：首筆累計起點相同；CG空白日期承接前筆；未校正庫存／損耗。供應商為推測，需批號驗證。來源：DAF偏移彙整.xlsx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2377440"/>
            <a:ext cx="54864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1">
                <a:solidFill>
                  <a:srgbClr val="18324E"/>
                </a:solidFill>
                <a:latin typeface="Noto Sans CJK TC"/>
              </a:defRPr>
            </a:pPr>
            <a:r>
              <a:t>投入順序推測｜累計數量 FIFO 配對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382512" y="2834640"/>
          <a:ext cx="5431536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841248"/>
                <a:gridCol w="1097280"/>
                <a:gridCol w="2898648"/>
              </a:tblGrid>
              <a:tr h="300445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DAF日</a:t>
                      </a:r>
                    </a:p>
                  </a:txBody>
                  <a:tcPr marL="36576" marR="36576" marT="27432" marB="27432">
                    <a:solidFill>
                      <a:srgbClr val="1832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DAF投入</a:t>
                      </a:r>
                    </a:p>
                  </a:txBody>
                  <a:tcPr marL="36576" marR="36576" marT="27432" marB="27432">
                    <a:solidFill>
                      <a:srgbClr val="1832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推測CG日</a:t>
                      </a:r>
                    </a:p>
                  </a:txBody>
                  <a:tcPr marL="36576" marR="36576" marT="27432" marB="27432">
                    <a:solidFill>
                      <a:srgbClr val="18324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Noto Sans CJK TC"/>
                        </a:defRPr>
                      </a:pPr>
                      <a:r>
                        <a:t>推測供應商／配對量</a:t>
                      </a:r>
                    </a:p>
                  </a:txBody>
                  <a:tcPr marL="36576" marR="36576" marT="27432" marB="27432">
                    <a:solidFill>
                      <a:srgbClr val="18324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08/13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4,684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08/17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4,684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5,183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5,183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09/01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3,305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08/18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3,305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09/04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4,735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4,735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09/07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4,346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08/18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4,346</a:t>
                      </a:r>
                    </a:p>
                  </a:txBody>
                  <a:tcPr marL="36576" marR="36576" marT="27432" marB="27432">
                    <a:solidFill>
                      <a:srgbClr val="E9F1F6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09/22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6,250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08/26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8324E"/>
                          </a:solidFill>
                          <a:latin typeface="Noto Sans CJK TC"/>
                        </a:defRPr>
                      </a:pPr>
                      <a:r>
                        <a:t>菲比特 6,250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6400800" y="5047488"/>
            <a:ext cx="5394960" cy="512064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兩邊首筆為起點，依累計投入量依序配對。</a:t>
            </a:r>
          </a:p>
          <a:p>
            <a:pPr>
              <a:defRPr sz="1200" b="0">
                <a:solidFill>
                  <a:srgbClr val="18324E"/>
                </a:solidFill>
                <a:latin typeface="Noto Sans CJK TC"/>
              </a:defRPr>
            </a:pPr>
            <a:r>
              <a:t>DAF已配對 323,933；CG未配對 408,186。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